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86" r:id="rId7"/>
    <p:sldId id="287" r:id="rId8"/>
    <p:sldId id="288" r:id="rId9"/>
    <p:sldId id="289" r:id="rId10"/>
    <p:sldId id="290" r:id="rId11"/>
    <p:sldId id="272" r:id="rId12"/>
    <p:sldId id="284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0F7C4-50E2-4C16-9032-3977DB122850}" type="datetimeFigureOut">
              <a:rPr lang="en-GB" smtClean="0"/>
              <a:t>08/09/2016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B86EC-8411-4672-8F53-4E04913323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4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ED93B-1C98-4EC3-BEFF-9E56D3E8532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14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27" descr="150831_tilte_image_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84" y="-1"/>
            <a:ext cx="12206784" cy="6868351"/>
          </a:xfrm>
          <a:prstGeom prst="rect">
            <a:avLst/>
          </a:prstGeom>
        </p:spPr>
      </p:pic>
      <p:pic>
        <p:nvPicPr>
          <p:cNvPr id="7" name="Bild 27" descr="150831_tilte_image_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784" y="-1"/>
            <a:ext cx="12206784" cy="68683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0" y="1920000"/>
            <a:ext cx="5760000" cy="960107"/>
          </a:xfrm>
        </p:spPr>
        <p:txBody>
          <a:bodyPr bIns="0">
            <a:normAutofit/>
          </a:bodyPr>
          <a:lstStyle>
            <a:lvl1pPr>
              <a:lnSpc>
                <a:spcPct val="100000"/>
              </a:lnSpc>
              <a:defRPr sz="6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00" y="960000"/>
            <a:ext cx="7680000" cy="960000"/>
          </a:xfrm>
        </p:spPr>
        <p:txBody>
          <a:bodyPr lIns="0" tIns="0" rIns="0" bIns="0"/>
          <a:lstStyle>
            <a:lvl1pPr marL="0" indent="0" algn="l">
              <a:buNone/>
              <a:defRPr b="1">
                <a:solidFill>
                  <a:schemeClr val="accent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grpSp>
        <p:nvGrpSpPr>
          <p:cNvPr id="9" name="Gruppierung 29"/>
          <p:cNvGrpSpPr/>
          <p:nvPr/>
        </p:nvGrpSpPr>
        <p:grpSpPr>
          <a:xfrm>
            <a:off x="813" y="5642727"/>
            <a:ext cx="12191188" cy="1259756"/>
            <a:chOff x="609" y="4232045"/>
            <a:chExt cx="9143391" cy="944817"/>
          </a:xfrm>
        </p:grpSpPr>
        <p:pic>
          <p:nvPicPr>
            <p:cNvPr id="13" name="Bild 8" descr="slant_footer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" y="4232045"/>
              <a:ext cx="9143391" cy="944817"/>
            </a:xfrm>
            <a:prstGeom prst="rect">
              <a:avLst/>
            </a:prstGeom>
          </p:spPr>
        </p:pic>
        <p:pic>
          <p:nvPicPr>
            <p:cNvPr id="14" name="Bild 18" descr="ROMOWind_Logo_offen+Claimbreit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2280" y="4587974"/>
              <a:ext cx="1839600" cy="387866"/>
            </a:xfrm>
            <a:prstGeom prst="rect">
              <a:avLst/>
            </a:prstGeom>
          </p:spPr>
        </p:pic>
      </p:grpSp>
      <p:grpSp>
        <p:nvGrpSpPr>
          <p:cNvPr id="10" name="Gruppierung 29"/>
          <p:cNvGrpSpPr/>
          <p:nvPr/>
        </p:nvGrpSpPr>
        <p:grpSpPr>
          <a:xfrm>
            <a:off x="813" y="5642727"/>
            <a:ext cx="12191188" cy="1259756"/>
            <a:chOff x="609" y="4232045"/>
            <a:chExt cx="9143391" cy="944817"/>
          </a:xfrm>
        </p:grpSpPr>
        <p:pic>
          <p:nvPicPr>
            <p:cNvPr id="11" name="Bild 8" descr="slant_footer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" y="4232045"/>
              <a:ext cx="9143391" cy="944817"/>
            </a:xfrm>
            <a:prstGeom prst="rect">
              <a:avLst/>
            </a:prstGeom>
          </p:spPr>
        </p:pic>
        <p:pic>
          <p:nvPicPr>
            <p:cNvPr id="12" name="Bild 18" descr="ROMOWind_Logo_offen+Claimbreit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2280" y="4587974"/>
              <a:ext cx="1839600" cy="3878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71308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00" y="480000"/>
            <a:ext cx="8640960" cy="768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632000"/>
            <a:ext cx="11040000" cy="4464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Pladsholder til dato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20" name="Pladsholder til sidefod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ladsholder til slidenumm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169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66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087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700807"/>
            <a:ext cx="5514400" cy="442535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00807"/>
            <a:ext cx="5384800" cy="442535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70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696279"/>
            <a:ext cx="5516517" cy="484583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67" b="1">
                <a:latin typeface="+mj-lt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00" y="2174875"/>
            <a:ext cx="5516517" cy="39512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696279"/>
            <a:ext cx="5389033" cy="484583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67" b="1">
                <a:latin typeface="+mj-lt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33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4797"/>
            <a:ext cx="6815667" cy="452136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1604797"/>
            <a:ext cx="4140687" cy="452136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80000" y="480000"/>
            <a:ext cx="864096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62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79777" y="1672481"/>
            <a:ext cx="7497559" cy="444481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1695674"/>
            <a:ext cx="3407755" cy="4421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9" name="Pladsholder til sidefod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ladsholder til sli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0000" y="480000"/>
            <a:ext cx="864096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32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1" y="1684076"/>
            <a:ext cx="7497559" cy="444481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9580" y="1684076"/>
            <a:ext cx="3407755" cy="4421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9" name="Pladsholder til sidefod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ladsholder til sli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0000" y="480000"/>
            <a:ext cx="864096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274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a-DK"/>
          </a:p>
        </p:txBody>
      </p:sp>
      <p:sp>
        <p:nvSpPr>
          <p:cNvPr id="23" name="Pladsholder til tekst 22"/>
          <p:cNvSpPr>
            <a:spLocks noGrp="1"/>
          </p:cNvSpPr>
          <p:nvPr>
            <p:ph type="body" sz="quarter" idx="13"/>
          </p:nvPr>
        </p:nvSpPr>
        <p:spPr>
          <a:xfrm>
            <a:off x="1104000" y="1968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ladsholder til dato 5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sp>
        <p:nvSpPr>
          <p:cNvPr id="7" name="Pladsholder til sidefod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ladsholder til tekst 22"/>
          <p:cNvSpPr>
            <a:spLocks noGrp="1"/>
          </p:cNvSpPr>
          <p:nvPr>
            <p:ph type="body" sz="quarter" idx="23"/>
          </p:nvPr>
        </p:nvSpPr>
        <p:spPr>
          <a:xfrm>
            <a:off x="1104000" y="2544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Pladsholder til tekst 22"/>
          <p:cNvSpPr>
            <a:spLocks noGrp="1"/>
          </p:cNvSpPr>
          <p:nvPr>
            <p:ph type="body" sz="quarter" idx="24"/>
          </p:nvPr>
        </p:nvSpPr>
        <p:spPr>
          <a:xfrm>
            <a:off x="1104000" y="3120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ladsholder til tekst 22"/>
          <p:cNvSpPr>
            <a:spLocks noGrp="1"/>
          </p:cNvSpPr>
          <p:nvPr>
            <p:ph type="body" sz="quarter" idx="25"/>
          </p:nvPr>
        </p:nvSpPr>
        <p:spPr>
          <a:xfrm>
            <a:off x="1104000" y="3696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ladsholder til tekst 22"/>
          <p:cNvSpPr>
            <a:spLocks noGrp="1"/>
          </p:cNvSpPr>
          <p:nvPr>
            <p:ph type="body" sz="quarter" idx="26"/>
          </p:nvPr>
        </p:nvSpPr>
        <p:spPr>
          <a:xfrm>
            <a:off x="1104000" y="4272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ladsholder til tekst 22"/>
          <p:cNvSpPr>
            <a:spLocks noGrp="1"/>
          </p:cNvSpPr>
          <p:nvPr>
            <p:ph type="body" sz="quarter" idx="27"/>
          </p:nvPr>
        </p:nvSpPr>
        <p:spPr>
          <a:xfrm>
            <a:off x="1104000" y="4848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2" name="Pladsholder til tekst 22"/>
          <p:cNvSpPr>
            <a:spLocks noGrp="1"/>
          </p:cNvSpPr>
          <p:nvPr>
            <p:ph type="body" sz="quarter" idx="28"/>
          </p:nvPr>
        </p:nvSpPr>
        <p:spPr>
          <a:xfrm>
            <a:off x="1104000" y="5424000"/>
            <a:ext cx="10368000" cy="384000"/>
          </a:xfrm>
          <a:noFill/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667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OMO W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18" descr="ROMOWind_Logo_offen+Claimbreit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8569" y="2712678"/>
            <a:ext cx="6794865" cy="1432647"/>
          </a:xfrm>
          <a:prstGeom prst="rect">
            <a:avLst/>
          </a:prstGeom>
        </p:spPr>
      </p:pic>
      <p:pic>
        <p:nvPicPr>
          <p:cNvPr id="3" name="Bild 18" descr="ROMOWind_Logo_offen+Claimbreit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8569" y="2712678"/>
            <a:ext cx="6794865" cy="14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96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150603_Basis_Bild_PPT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hteck 17"/>
          <p:cNvSpPr/>
          <p:nvPr/>
        </p:nvSpPr>
        <p:spPr>
          <a:xfrm>
            <a:off x="623392" y="428175"/>
            <a:ext cx="8640960" cy="1610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GB" sz="10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/>
            </a:r>
            <a:br>
              <a:rPr lang="en-GB" sz="10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</a:br>
            <a:r>
              <a:rPr lang="en-GB" sz="1067" noProof="0" dirty="0" smtClean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  </a:t>
            </a:r>
            <a:r>
              <a:rPr lang="en-GB" sz="18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/>
            </a:r>
            <a:br>
              <a:rPr lang="en-GB" sz="18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</a:br>
            <a:r>
              <a:rPr lang="en-GB" sz="64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/>
              </a:rPr>
              <a:t>Thank you!</a:t>
            </a:r>
            <a:endParaRPr lang="en-GB" sz="6400" noProof="0" dirty="0">
              <a:solidFill>
                <a:schemeClr val="bg1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10" name="Bild 18" descr="ROMOWind_Logo_offen+Claimbreit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6373" y="6117299"/>
            <a:ext cx="2452800" cy="517155"/>
          </a:xfrm>
          <a:prstGeom prst="rect">
            <a:avLst/>
          </a:prstGeom>
        </p:spPr>
      </p:pic>
      <p:sp>
        <p:nvSpPr>
          <p:cNvPr id="11" name="TextBox 19"/>
          <p:cNvSpPr txBox="1"/>
          <p:nvPr/>
        </p:nvSpPr>
        <p:spPr>
          <a:xfrm>
            <a:off x="623392" y="2291457"/>
            <a:ext cx="374441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50940"/>
            <a:r>
              <a:rPr lang="en-GB" sz="2133" noProof="0" dirty="0" smtClean="0">
                <a:solidFill>
                  <a:srgbClr val="F49400"/>
                </a:solidFill>
                <a:latin typeface="Arial" panose="020B0604020202020204" pitchFamily="34" charset="0"/>
                <a:cs typeface="Arial"/>
              </a:rPr>
              <a:t>Contact:</a:t>
            </a:r>
            <a:endParaRPr lang="en-GB" sz="2133" noProof="0" dirty="0">
              <a:solidFill>
                <a:srgbClr val="F494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12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719404" y="2746041"/>
            <a:ext cx="3839633" cy="767489"/>
          </a:xfrm>
        </p:spPr>
        <p:txBody>
          <a:bodyPr>
            <a:normAutofit/>
          </a:bodyPr>
          <a:lstStyle>
            <a:lvl1pPr>
              <a:defRPr sz="2133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Insert Contact details, e.g. phone and Email</a:t>
            </a:r>
          </a:p>
        </p:txBody>
      </p:sp>
      <p:pic>
        <p:nvPicPr>
          <p:cNvPr id="7" name="Bild 7" descr="150603_Basis_Bild_PPT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7"/>
          <p:cNvSpPr/>
          <p:nvPr/>
        </p:nvSpPr>
        <p:spPr>
          <a:xfrm>
            <a:off x="623392" y="428175"/>
            <a:ext cx="8640960" cy="1610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GB" sz="10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/>
            </a:r>
            <a:br>
              <a:rPr lang="en-GB" sz="10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</a:br>
            <a:r>
              <a:rPr lang="en-GB" sz="1067" noProof="0" dirty="0" smtClean="0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  </a:t>
            </a:r>
            <a:r>
              <a:rPr lang="en-GB" sz="18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  <a:t/>
            </a:r>
            <a:br>
              <a:rPr lang="en-GB" sz="1867" noProof="0" dirty="0" smtClean="0">
                <a:solidFill>
                  <a:srgbClr val="F89515"/>
                </a:solidFill>
                <a:latin typeface="Arial" panose="020B0604020202020204" pitchFamily="34" charset="0"/>
                <a:cs typeface="Arial"/>
              </a:rPr>
            </a:br>
            <a:r>
              <a:rPr lang="en-GB" sz="64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/>
              </a:rPr>
              <a:t>Thank you!</a:t>
            </a:r>
            <a:endParaRPr lang="en-GB" sz="6400" noProof="0" dirty="0">
              <a:solidFill>
                <a:schemeClr val="bg1"/>
              </a:solidFill>
              <a:latin typeface="Arial" panose="020B0604020202020204" pitchFamily="34" charset="0"/>
              <a:cs typeface="Arial"/>
            </a:endParaRPr>
          </a:p>
        </p:txBody>
      </p:sp>
      <p:pic>
        <p:nvPicPr>
          <p:cNvPr id="14" name="Bild 18" descr="ROMOWind_Logo_offen+Claimbreit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6373" y="6117299"/>
            <a:ext cx="2452800" cy="517155"/>
          </a:xfrm>
          <a:prstGeom prst="rect">
            <a:avLst/>
          </a:prstGeom>
        </p:spPr>
      </p:pic>
      <p:sp>
        <p:nvSpPr>
          <p:cNvPr id="15" name="TextBox 19"/>
          <p:cNvSpPr txBox="1"/>
          <p:nvPr/>
        </p:nvSpPr>
        <p:spPr>
          <a:xfrm>
            <a:off x="623392" y="2291457"/>
            <a:ext cx="374441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50940"/>
            <a:r>
              <a:rPr lang="en-GB" sz="2133" noProof="0" dirty="0" smtClean="0">
                <a:solidFill>
                  <a:srgbClr val="F49400"/>
                </a:solidFill>
                <a:latin typeface="Arial" panose="020B0604020202020204" pitchFamily="34" charset="0"/>
                <a:cs typeface="Arial"/>
              </a:rPr>
              <a:t>Contact:</a:t>
            </a:r>
            <a:endParaRPr lang="en-GB" sz="2133" noProof="0" dirty="0">
              <a:solidFill>
                <a:srgbClr val="F49400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746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480000"/>
            <a:ext cx="8640960" cy="7200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632000"/>
            <a:ext cx="11040000" cy="446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32000"/>
            <a:ext cx="2160000" cy="288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1067">
                <a:solidFill>
                  <a:schemeClr val="accent3"/>
                </a:solidFill>
                <a:latin typeface="+mn-lt"/>
              </a:defRPr>
            </a:lvl1pPr>
          </a:lstStyle>
          <a:p>
            <a:fld id="{F6B13E9B-C01A-4D23-85FC-FFCD91BEC6C9}" type="datetimeFigureOut">
              <a:rPr lang="en-US" smtClean="0"/>
              <a:t>9/8/2016</a:t>
            </a:fld>
            <a:endParaRPr lang="en-US"/>
          </a:p>
        </p:txBody>
      </p:sp>
      <p:cxnSp>
        <p:nvCxnSpPr>
          <p:cNvPr id="11" name="Gerade Verbindung 21"/>
          <p:cNvCxnSpPr/>
          <p:nvPr/>
        </p:nvCxnSpPr>
        <p:spPr>
          <a:xfrm>
            <a:off x="0" y="1440000"/>
            <a:ext cx="12192000" cy="0"/>
          </a:xfrm>
          <a:prstGeom prst="line">
            <a:avLst/>
          </a:prstGeom>
          <a:ln w="12700">
            <a:solidFill>
              <a:srgbClr val="005A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uppierung 31"/>
          <p:cNvGrpSpPr/>
          <p:nvPr/>
        </p:nvGrpSpPr>
        <p:grpSpPr>
          <a:xfrm>
            <a:off x="10676467" y="6290215"/>
            <a:ext cx="1518448" cy="579077"/>
            <a:chOff x="8007350" y="4709192"/>
            <a:chExt cx="1138836" cy="434308"/>
          </a:xfrm>
        </p:grpSpPr>
        <p:cxnSp>
          <p:nvCxnSpPr>
            <p:cNvPr id="13" name="Gerade Verbindung 32"/>
            <p:cNvCxnSpPr/>
            <p:nvPr/>
          </p:nvCxnSpPr>
          <p:spPr>
            <a:xfrm flipV="1">
              <a:off x="8007350" y="4709192"/>
              <a:ext cx="1138836" cy="78708"/>
            </a:xfrm>
            <a:prstGeom prst="line">
              <a:avLst/>
            </a:prstGeom>
            <a:ln w="19050">
              <a:solidFill>
                <a:srgbClr val="005A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3"/>
            <p:cNvCxnSpPr/>
            <p:nvPr/>
          </p:nvCxnSpPr>
          <p:spPr>
            <a:xfrm flipV="1">
              <a:off x="8020050" y="4787900"/>
              <a:ext cx="0" cy="355600"/>
            </a:xfrm>
            <a:prstGeom prst="line">
              <a:avLst/>
            </a:prstGeom>
            <a:ln w="19050">
              <a:solidFill>
                <a:srgbClr val="005A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0000" y="6429633"/>
            <a:ext cx="960000" cy="288000"/>
          </a:xfrm>
          <a:prstGeom prst="rect">
            <a:avLst/>
          </a:prstGeom>
        </p:spPr>
        <p:txBody>
          <a:bodyPr wrap="none" tIns="0" rIns="36000" bIns="0" anchor="t" anchorCtr="0"/>
          <a:lstStyle>
            <a:lvl1pPr>
              <a:defRPr sz="1067">
                <a:solidFill>
                  <a:schemeClr val="accent3"/>
                </a:solidFill>
              </a:defRPr>
            </a:lvl1pPr>
          </a:lstStyle>
          <a:p>
            <a:fld id="{285B98BF-AD5A-4799-85B5-53172181A40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2640000" y="6432000"/>
            <a:ext cx="7680000" cy="288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1067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8" name="Gerade Verbindung 21"/>
          <p:cNvCxnSpPr/>
          <p:nvPr/>
        </p:nvCxnSpPr>
        <p:spPr>
          <a:xfrm>
            <a:off x="0" y="1440000"/>
            <a:ext cx="12192000" cy="0"/>
          </a:xfrm>
          <a:prstGeom prst="line">
            <a:avLst/>
          </a:prstGeom>
          <a:ln w="12700">
            <a:solidFill>
              <a:srgbClr val="005A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uppierung 31"/>
          <p:cNvGrpSpPr/>
          <p:nvPr/>
        </p:nvGrpSpPr>
        <p:grpSpPr>
          <a:xfrm>
            <a:off x="10676467" y="6290215"/>
            <a:ext cx="1518448" cy="579077"/>
            <a:chOff x="8007350" y="4709192"/>
            <a:chExt cx="1138836" cy="434308"/>
          </a:xfrm>
        </p:grpSpPr>
        <p:cxnSp>
          <p:nvCxnSpPr>
            <p:cNvPr id="20" name="Gerade Verbindung 32"/>
            <p:cNvCxnSpPr/>
            <p:nvPr/>
          </p:nvCxnSpPr>
          <p:spPr>
            <a:xfrm flipV="1">
              <a:off x="8007350" y="4709192"/>
              <a:ext cx="1138836" cy="78708"/>
            </a:xfrm>
            <a:prstGeom prst="line">
              <a:avLst/>
            </a:prstGeom>
            <a:ln w="19050">
              <a:solidFill>
                <a:srgbClr val="005A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3"/>
            <p:cNvCxnSpPr/>
            <p:nvPr/>
          </p:nvCxnSpPr>
          <p:spPr>
            <a:xfrm flipV="1">
              <a:off x="8020050" y="4787900"/>
              <a:ext cx="0" cy="355600"/>
            </a:xfrm>
            <a:prstGeom prst="line">
              <a:avLst/>
            </a:prstGeom>
            <a:ln w="19050">
              <a:solidFill>
                <a:srgbClr val="005A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Bild 18" descr="ROMOWind_Logo_offen+Claimbreit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2400" y="480000"/>
            <a:ext cx="2452800" cy="51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2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iming>
    <p:tnLst>
      <p:par>
        <p:cTn id="1" dur="indefinite" restart="never" nodeType="tmRoot"/>
      </p:par>
    </p:tnLst>
  </p:timing>
  <p:txStyles>
    <p:titleStyle>
      <a:lvl1pPr algn="l" defTabSz="1219170" rtl="0" eaLnBrk="1" latinLnBrk="0" hangingPunct="1">
        <a:spcBef>
          <a:spcPct val="0"/>
        </a:spcBef>
        <a:buNone/>
        <a:defRPr sz="2400" b="1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39178" indent="-239178" algn="l" defTabSz="1219170" rtl="0" eaLnBrk="1" latinLnBrk="0" hangingPunct="1">
        <a:spcBef>
          <a:spcPts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6239" indent="-237061" algn="l" defTabSz="1219170" rtl="0" eaLnBrk="1" latinLnBrk="0" hangingPunct="1">
        <a:spcBef>
          <a:spcPts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15415" indent="-239178" algn="l" defTabSz="1219170" rtl="0" eaLnBrk="1" latinLnBrk="0" hangingPunct="1">
        <a:spcBef>
          <a:spcPts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54593" indent="-239178" algn="l" defTabSz="1219170" rtl="0" eaLnBrk="1" latinLnBrk="0" hangingPunct="1">
        <a:spcBef>
          <a:spcPts val="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/>
              <a:t>Performance verification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Comparison of power curves, iSpin/SCADA: “iSpin Guardian”</a:t>
            </a:r>
          </a:p>
          <a:p>
            <a:r>
              <a:rPr lang="en-US" dirty="0" smtClean="0"/>
              <a:t>Nick </a:t>
            </a:r>
            <a:r>
              <a:rPr lang="en-US" dirty="0" smtClean="0"/>
              <a:t>Janssen</a:t>
            </a:r>
          </a:p>
          <a:p>
            <a:r>
              <a:rPr lang="en-US" dirty="0" smtClean="0"/>
              <a:t>Lasse M. </a:t>
            </a:r>
            <a:r>
              <a:rPr lang="en-US" smtClean="0"/>
              <a:t>Sørensen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 details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Northern Sweden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40 x 2 and 1.8MW turbines</a:t>
            </a:r>
          </a:p>
          <a:p>
            <a:pPr lvl="1"/>
            <a:r>
              <a:rPr lang="en-US" dirty="0" smtClean="0"/>
              <a:t> Hills and small mountains</a:t>
            </a:r>
          </a:p>
          <a:p>
            <a:pPr lvl="1"/>
            <a:r>
              <a:rPr lang="en-US" dirty="0" smtClean="0"/>
              <a:t> Low growing Swedish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 turbulence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Varying inflow due to terrain</a:t>
            </a:r>
          </a:p>
          <a:p>
            <a:endParaRPr lang="en-US" dirty="0"/>
          </a:p>
          <a:p>
            <a:r>
              <a:rPr lang="en-US" dirty="0" smtClean="0"/>
              <a:t>iSpin NTF to free wind, developed from </a:t>
            </a:r>
          </a:p>
          <a:p>
            <a:r>
              <a:rPr lang="en-US" dirty="0" smtClean="0"/>
              <a:t>flat site in Spain</a:t>
            </a:r>
          </a:p>
        </p:txBody>
      </p:sp>
      <p:pic>
        <p:nvPicPr>
          <p:cNvPr id="5" name="Picture 2" descr="http://powerplants.vattenfall.com/sites/default/files/stor_rotliden_12_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695" y="1774408"/>
            <a:ext cx="6347482" cy="417918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0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/>
              <a:t>and turbines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Time frame: 09/01-2015 until 08/16-2016</a:t>
            </a:r>
          </a:p>
          <a:p>
            <a:endParaRPr lang="en-US" dirty="0" smtClean="0"/>
          </a:p>
          <a:p>
            <a:r>
              <a:rPr lang="en-US" dirty="0" smtClean="0"/>
              <a:t>Turbine type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40 x V90-2MW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All equipped with iSpin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Tower height = 95 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11 turbines de-rated to 1,8 MW (this analysis focus on turbines with rated power)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Remaining turbines operating at 2 MW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lvl="1" indent="0">
              <a:buNone/>
            </a:pPr>
            <a:r>
              <a:rPr lang="en-US" dirty="0" smtClean="0"/>
              <a:t>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wind speed = 6 m/s</a:t>
            </a:r>
          </a:p>
          <a:p>
            <a:pPr lvl="1"/>
            <a:r>
              <a:rPr lang="en-US" dirty="0"/>
              <a:t>Wind direction is mostly West/South</a:t>
            </a:r>
          </a:p>
          <a:p>
            <a:endParaRPr lang="en-US" dirty="0" smtClean="0"/>
          </a:p>
          <a:p>
            <a:r>
              <a:rPr lang="en-US" dirty="0" smtClean="0"/>
              <a:t>Temperature </a:t>
            </a:r>
            <a:r>
              <a:rPr lang="en-US" dirty="0"/>
              <a:t>(Celsius)</a:t>
            </a:r>
          </a:p>
          <a:p>
            <a:pPr lvl="1"/>
            <a:r>
              <a:rPr lang="en-US" dirty="0"/>
              <a:t>Average = 2,34 </a:t>
            </a:r>
          </a:p>
          <a:p>
            <a:pPr lvl="1"/>
            <a:r>
              <a:rPr lang="en-US" dirty="0"/>
              <a:t>Max = 22,63</a:t>
            </a:r>
          </a:p>
          <a:p>
            <a:pPr lvl="1"/>
            <a:r>
              <a:rPr lang="en-US" dirty="0"/>
              <a:t>Min = -</a:t>
            </a:r>
            <a:r>
              <a:rPr lang="en-US" dirty="0" smtClean="0"/>
              <a:t>23,37 </a:t>
            </a:r>
            <a:r>
              <a:rPr lang="en-US" dirty="0"/>
              <a:t>(January) </a:t>
            </a:r>
            <a:r>
              <a:rPr lang="en-US" dirty="0">
                <a:sym typeface="Wingdings" panose="05000000000000000000" pitchFamily="2" charset="2"/>
              </a:rPr>
              <a:t>Tremendous icing </a:t>
            </a:r>
            <a:r>
              <a:rPr lang="en-US" dirty="0" smtClean="0">
                <a:sym typeface="Wingdings" panose="05000000000000000000" pitchFamily="2" charset="2"/>
              </a:rPr>
              <a:t>problems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marL="0" lvl="1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Calibration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On a semi-complex site in </a:t>
            </a:r>
            <a:r>
              <a:rPr lang="en-US" dirty="0">
                <a:sym typeface="Wingdings" panose="05000000000000000000" pitchFamily="2" charset="2"/>
              </a:rPr>
              <a:t>S</a:t>
            </a:r>
            <a:r>
              <a:rPr lang="en-US" dirty="0" smtClean="0">
                <a:sym typeface="Wingdings" panose="05000000000000000000" pitchFamily="2" charset="2"/>
              </a:rPr>
              <a:t>pain</a:t>
            </a:r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8" r="21843"/>
          <a:stretch/>
        </p:blipFill>
        <p:spPr>
          <a:xfrm>
            <a:off x="8117306" y="1779036"/>
            <a:ext cx="3856510" cy="39551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97696" y="1632000"/>
            <a:ext cx="2020824" cy="4985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endParaRPr lang="en-GB" sz="1400" dirty="0" smtClean="0"/>
          </a:p>
        </p:txBody>
      </p:sp>
    </p:spTree>
    <p:extLst>
      <p:ext uri="{BB962C8B-B14F-4D97-AF65-F5344CB8AC3E}">
        <p14:creationId xmlns:p14="http://schemas.microsoft.com/office/powerpoint/2010/main" val="162758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632000"/>
            <a:ext cx="5811072" cy="4464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Wind speed </a:t>
            </a:r>
            <a:r>
              <a:rPr lang="en-US" b="1" dirty="0" smtClean="0"/>
              <a:t>&gt; 3 m/s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Average angular rotor speed </a:t>
            </a:r>
            <a:r>
              <a:rPr lang="en-US" b="1" dirty="0" smtClean="0"/>
              <a:t>&gt; 50 </a:t>
            </a:r>
            <a:r>
              <a:rPr lang="en-US" b="1" dirty="0" err="1" smtClean="0"/>
              <a:t>deg</a:t>
            </a:r>
            <a:r>
              <a:rPr lang="en-US" b="1" dirty="0" smtClean="0"/>
              <a:t>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Minimum angular rotor speed </a:t>
            </a:r>
            <a:r>
              <a:rPr lang="en-US" b="1" dirty="0" smtClean="0"/>
              <a:t>&gt; 20 </a:t>
            </a:r>
            <a:r>
              <a:rPr lang="en-US" b="1" dirty="0" err="1" smtClean="0"/>
              <a:t>deg</a:t>
            </a:r>
            <a:r>
              <a:rPr lang="en-US" b="1" dirty="0" smtClean="0"/>
              <a:t>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Ambient temperature </a:t>
            </a:r>
            <a:r>
              <a:rPr lang="en-US" b="1" dirty="0" smtClean="0"/>
              <a:t>&gt; 2</a:t>
            </a:r>
            <a:r>
              <a:rPr lang="en-US" dirty="0" smtClean="0"/>
              <a:t> degree Celsius (to remove icing) </a:t>
            </a:r>
          </a:p>
          <a:p>
            <a:pPr lvl="1"/>
            <a:r>
              <a:rPr lang="en-US" dirty="0" smtClean="0"/>
              <a:t>Exclude non-producing periods </a:t>
            </a:r>
          </a:p>
          <a:p>
            <a:pPr lvl="1"/>
            <a:r>
              <a:rPr lang="en-US" b="1" dirty="0" smtClean="0"/>
              <a:t>360 degree </a:t>
            </a:r>
            <a:r>
              <a:rPr lang="en-US" dirty="0" smtClean="0"/>
              <a:t>round (also wake) taken into account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No turbine log was available – i.e. difficult to filter out emergency/service stops etc.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660105" y="1487037"/>
            <a:ext cx="4122822" cy="3915710"/>
            <a:chOff x="7660105" y="1487037"/>
            <a:chExt cx="4122822" cy="391571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l="48743" b="12761"/>
            <a:stretch/>
          </p:blipFill>
          <p:spPr>
            <a:xfrm>
              <a:off x="7660105" y="1510850"/>
              <a:ext cx="4122822" cy="3891897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9204784" y="1487037"/>
              <a:ext cx="1620378" cy="2119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>
              <a:normAutofit fontScale="62500" lnSpcReduction="20000"/>
            </a:bodyPr>
            <a:lstStyle/>
            <a:p>
              <a:pPr algn="ctr"/>
              <a:endParaRPr lang="en-GB" sz="1400" dirty="0" smtClean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166120" y="5284597"/>
            <a:ext cx="3697706" cy="9144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none" rtlCol="0">
            <a:noAutofit/>
          </a:bodyPr>
          <a:lstStyle/>
          <a:p>
            <a:r>
              <a:rPr lang="en-GB" sz="1400" dirty="0" smtClean="0"/>
              <a:t>Orange: 10 minute samples with T &gt; 2 </a:t>
            </a:r>
            <a:r>
              <a:rPr lang="en-GB" sz="1400" dirty="0" err="1" smtClean="0"/>
              <a:t>deg</a:t>
            </a:r>
            <a:r>
              <a:rPr lang="en-GB" sz="1400" dirty="0" smtClean="0"/>
              <a:t> C</a:t>
            </a:r>
          </a:p>
          <a:p>
            <a:r>
              <a:rPr lang="en-GB" sz="1400" dirty="0" smtClean="0"/>
              <a:t>Green: </a:t>
            </a:r>
            <a:r>
              <a:rPr lang="en-GB" sz="1400" dirty="0"/>
              <a:t>10 minute samples with T </a:t>
            </a:r>
            <a:r>
              <a:rPr lang="en-GB" sz="1400" dirty="0" smtClean="0"/>
              <a:t>&lt; </a:t>
            </a:r>
            <a:r>
              <a:rPr lang="en-GB" sz="1400" dirty="0"/>
              <a:t>2 </a:t>
            </a:r>
            <a:r>
              <a:rPr lang="en-GB" sz="1400" dirty="0" err="1"/>
              <a:t>deg</a:t>
            </a:r>
            <a:r>
              <a:rPr lang="en-GB" sz="1400" dirty="0"/>
              <a:t> C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099048" y="2494547"/>
            <a:ext cx="2599960" cy="109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70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1" indent="0">
                  <a:buNone/>
                </a:pPr>
                <a:r>
                  <a:rPr lang="en-US" b="1" dirty="0" smtClean="0"/>
                  <a:t>Air density correction</a:t>
                </a:r>
              </a:p>
              <a:p>
                <a:pPr lvl="1"/>
                <a:r>
                  <a:rPr lang="en-US" dirty="0" smtClean="0"/>
                  <a:t>Applied with </a:t>
                </a:r>
                <a:r>
                  <a:rPr lang="en-US" u="sng" dirty="0" smtClean="0"/>
                  <a:t>IEC method</a:t>
                </a:r>
                <a:r>
                  <a:rPr lang="en-US" dirty="0" smtClean="0"/>
                  <a:t>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𝑐𝑜𝑟𝑟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and </a:t>
                </a:r>
                <a:r>
                  <a:rPr lang="en-US" u="sng" dirty="0" err="1" smtClean="0"/>
                  <a:t>Svenningsen</a:t>
                </a:r>
                <a:r>
                  <a:rPr lang="en-US" dirty="0" smtClean="0"/>
                  <a:t> method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𝑐𝑜𝑟𝑟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lvl="1" indent="0">
                  <a:buNone/>
                </a:pPr>
                <a:endParaRPr lang="en-US" dirty="0" smtClean="0"/>
              </a:p>
              <a:p>
                <a:pPr marL="0" lvl="1" indent="0">
                  <a:buNone/>
                </a:pPr>
                <a:endParaRPr lang="en-US" b="1" dirty="0" smtClean="0"/>
              </a:p>
              <a:p>
                <a:pPr marL="0" lvl="1" indent="0">
                  <a:buNone/>
                </a:pPr>
                <a:r>
                  <a:rPr lang="en-US" b="1" dirty="0" smtClean="0"/>
                  <a:t>Turbulence intensity correction</a:t>
                </a:r>
              </a:p>
              <a:p>
                <a:pPr lvl="2"/>
                <a:r>
                  <a:rPr lang="en-US" dirty="0"/>
                  <a:t>Verified with Consensus Zero Turbulence Power Curve Generation.xlsx</a:t>
                </a:r>
                <a:endParaRPr lang="en-US" dirty="0" smtClean="0"/>
              </a:p>
              <a:p>
                <a:pPr lvl="2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0" lvl="1" indent="0">
                  <a:buNone/>
                </a:pPr>
                <a:endParaRPr lang="en-US" b="1" dirty="0" smtClean="0"/>
              </a:p>
              <a:p>
                <a:pPr marL="0" lvl="1" indent="0">
                  <a:buNone/>
                </a:pPr>
                <a:r>
                  <a:rPr lang="en-US" b="1" dirty="0" smtClean="0"/>
                  <a:t>Flow inclination correction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Constructing the wind speed component perpendicular to the rotor plane</a:t>
                </a:r>
              </a:p>
              <a:p>
                <a:pPr lvl="2"/>
                <a:endParaRPr lang="en-US" dirty="0" smtClean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0" t="-1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82" y="1607533"/>
            <a:ext cx="3751847" cy="2383628"/>
          </a:xfrm>
          <a:prstGeom prst="rect">
            <a:avLst/>
          </a:prstGeom>
        </p:spPr>
      </p:pic>
      <p:cxnSp>
        <p:nvCxnSpPr>
          <p:cNvPr id="6" name="Elbow Connector 5"/>
          <p:cNvCxnSpPr/>
          <p:nvPr/>
        </p:nvCxnSpPr>
        <p:spPr>
          <a:xfrm flipV="1">
            <a:off x="2574758" y="2676525"/>
            <a:ext cx="2882324" cy="49179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37742" y="1666836"/>
            <a:ext cx="2807130" cy="749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50" dirty="0" smtClean="0"/>
              <a:t>Source: </a:t>
            </a:r>
            <a:r>
              <a:rPr lang="en-GB" sz="1050" dirty="0" err="1" smtClean="0"/>
              <a:t>Svenningsen</a:t>
            </a:r>
            <a:r>
              <a:rPr lang="en-GB" sz="1050" dirty="0"/>
              <a:t>, L. (2010) </a:t>
            </a:r>
            <a:r>
              <a:rPr lang="en-GB" sz="1050" i="1" dirty="0"/>
              <a:t>Proposal of </a:t>
            </a:r>
            <a:endParaRPr lang="en-GB" sz="1050" i="1" dirty="0" smtClean="0"/>
          </a:p>
          <a:p>
            <a:r>
              <a:rPr lang="en-GB" sz="1050" i="1" dirty="0" smtClean="0"/>
              <a:t>an </a:t>
            </a:r>
            <a:r>
              <a:rPr lang="en-GB" sz="1050" i="1" dirty="0"/>
              <a:t>Improved Power Curve Correction</a:t>
            </a:r>
            <a:r>
              <a:rPr lang="en-GB" sz="1050" dirty="0"/>
              <a:t>. EMD</a:t>
            </a:r>
          </a:p>
          <a:p>
            <a:r>
              <a:rPr lang="en-GB" sz="1050" dirty="0"/>
              <a:t>International A/S, EWEC 2010</a:t>
            </a:r>
          </a:p>
        </p:txBody>
      </p:sp>
      <p:pic>
        <p:nvPicPr>
          <p:cNvPr id="1026" name="Picture 2" descr="http://www.ingdemurtas.it/wp-content/uploads/2014/06/convention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45" b="24838"/>
          <a:stretch/>
        </p:blipFill>
        <p:spPr bwMode="auto">
          <a:xfrm>
            <a:off x="7997501" y="4277530"/>
            <a:ext cx="2246918" cy="249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957276" y="6133331"/>
            <a:ext cx="2807130" cy="749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50" dirty="0" smtClean="0"/>
              <a:t>Source</a:t>
            </a:r>
            <a:r>
              <a:rPr lang="en-GB" sz="1050" dirty="0"/>
              <a:t>: http://</a:t>
            </a:r>
            <a:r>
              <a:rPr lang="en-GB" sz="1050" dirty="0" smtClean="0"/>
              <a:t>www.ingdemurtas.it</a:t>
            </a:r>
            <a:endParaRPr lang="en-GB" sz="105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9378740" y="4931819"/>
            <a:ext cx="891872" cy="112295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52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 - Normalization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" t="9035" r="8882"/>
          <a:stretch/>
        </p:blipFill>
        <p:spPr>
          <a:xfrm>
            <a:off x="6671107" y="4294451"/>
            <a:ext cx="3600000" cy="2339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" t="9035" r="8772"/>
          <a:stretch/>
        </p:blipFill>
        <p:spPr>
          <a:xfrm>
            <a:off x="6671106" y="1788358"/>
            <a:ext cx="3600000" cy="23361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" t="9211" r="8883"/>
          <a:stretch/>
        </p:blipFill>
        <p:spPr>
          <a:xfrm>
            <a:off x="231347" y="2883877"/>
            <a:ext cx="3600000" cy="23316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9542" y="2426677"/>
            <a:ext cx="2302042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dirty="0" smtClean="0"/>
              <a:t>Un-normalized power curve</a:t>
            </a:r>
            <a:endParaRPr lang="en-GB" sz="1400" dirty="0"/>
          </a:p>
        </p:txBody>
      </p:sp>
      <p:cxnSp>
        <p:nvCxnSpPr>
          <p:cNvPr id="9" name="Elbow Connector 8"/>
          <p:cNvCxnSpPr>
            <a:stCxn id="6" idx="3"/>
            <a:endCxn id="4" idx="1"/>
          </p:cNvCxnSpPr>
          <p:nvPr/>
        </p:nvCxnSpPr>
        <p:spPr>
          <a:xfrm>
            <a:off x="3831347" y="4049711"/>
            <a:ext cx="2839760" cy="1414290"/>
          </a:xfrm>
          <a:prstGeom prst="bentConnector3">
            <a:avLst>
              <a:gd name="adj1" fmla="val 2119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flipV="1">
            <a:off x="3821825" y="2956445"/>
            <a:ext cx="2839759" cy="1093266"/>
          </a:xfrm>
          <a:prstGeom prst="bentConnector3">
            <a:avLst>
              <a:gd name="adj1" fmla="val 21754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01359" y="204204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dirty="0" smtClean="0"/>
              <a:t>Air density (IEC)+</a:t>
            </a:r>
          </a:p>
          <a:p>
            <a:r>
              <a:rPr lang="en-GB" sz="1400" dirty="0" smtClean="0"/>
              <a:t>Turbulence intensity+</a:t>
            </a:r>
          </a:p>
          <a:p>
            <a:r>
              <a:rPr lang="en-GB" sz="1400" dirty="0" smtClean="0"/>
              <a:t>Flow inclination</a:t>
            </a:r>
          </a:p>
          <a:p>
            <a:r>
              <a:rPr lang="en-GB" sz="1400" dirty="0" smtClean="0"/>
              <a:t>normalization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9170" y="559157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dirty="0" smtClean="0"/>
              <a:t>Air density (</a:t>
            </a:r>
            <a:r>
              <a:rPr lang="en-GB" sz="1400" dirty="0" err="1" smtClean="0"/>
              <a:t>Svenningsen</a:t>
            </a:r>
            <a:r>
              <a:rPr lang="en-GB" sz="1400" dirty="0" smtClean="0"/>
              <a:t>)+</a:t>
            </a:r>
          </a:p>
          <a:p>
            <a:r>
              <a:rPr lang="en-GB" sz="1400" dirty="0" smtClean="0"/>
              <a:t>Turbulence intensity+</a:t>
            </a:r>
          </a:p>
          <a:p>
            <a:r>
              <a:rPr lang="en-GB" sz="1400" dirty="0" smtClean="0"/>
              <a:t>Flow inclination</a:t>
            </a:r>
          </a:p>
          <a:p>
            <a:r>
              <a:rPr lang="en-GB" sz="1400" dirty="0" smtClean="0"/>
              <a:t>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32688" y="2712212"/>
            <a:ext cx="2459736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lnSpcReduction="10000"/>
          </a:bodyPr>
          <a:lstStyle/>
          <a:p>
            <a:pPr algn="ctr"/>
            <a:endParaRPr lang="en-GB" sz="14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7416038" y="1618439"/>
            <a:ext cx="2459736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lnSpcReduction="10000"/>
          </a:bodyPr>
          <a:lstStyle/>
          <a:p>
            <a:pPr algn="ctr"/>
            <a:endParaRPr lang="en-GB" sz="14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7446407" y="4130579"/>
            <a:ext cx="2459736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lnSpcReduction="10000"/>
          </a:bodyPr>
          <a:lstStyle/>
          <a:p>
            <a:pPr algn="ctr"/>
            <a:endParaRPr lang="en-GB" sz="1400" dirty="0" smtClean="0"/>
          </a:p>
        </p:txBody>
      </p:sp>
    </p:spTree>
    <p:extLst>
      <p:ext uri="{BB962C8B-B14F-4D97-AF65-F5344CB8AC3E}">
        <p14:creationId xmlns:p14="http://schemas.microsoft.com/office/powerpoint/2010/main" val="314633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 – all 40 turbines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Air density correction (IEC)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Turbulence intensity correction (PCWG)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Flow inclination correction (ROMO)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t="12719" r="8771"/>
          <a:stretch/>
        </p:blipFill>
        <p:spPr>
          <a:xfrm>
            <a:off x="5593737" y="1505596"/>
            <a:ext cx="4140000" cy="2581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t="12719" r="8991"/>
          <a:stretch/>
        </p:blipFill>
        <p:spPr>
          <a:xfrm>
            <a:off x="5593737" y="4086618"/>
            <a:ext cx="4140000" cy="25875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9" t="13070" r="8882"/>
          <a:stretch/>
        </p:blipFill>
        <p:spPr>
          <a:xfrm>
            <a:off x="5593737" y="4097533"/>
            <a:ext cx="4140000" cy="257064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9120960" y="2045368"/>
            <a:ext cx="980337" cy="4659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01297" y="25113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dirty="0" smtClean="0"/>
              <a:t>‘iSpin Guardian’</a:t>
            </a:r>
            <a:endParaRPr lang="en-GB" sz="1400" dirty="0"/>
          </a:p>
        </p:txBody>
      </p:sp>
      <p:sp>
        <p:nvSpPr>
          <p:cNvPr id="23" name="Freeform 22"/>
          <p:cNvSpPr/>
          <p:nvPr/>
        </p:nvSpPr>
        <p:spPr>
          <a:xfrm>
            <a:off x="6338888" y="1989169"/>
            <a:ext cx="2719387" cy="1682719"/>
          </a:xfrm>
          <a:custGeom>
            <a:avLst/>
            <a:gdLst>
              <a:gd name="connsiteX0" fmla="*/ 0 w 2719387"/>
              <a:gd name="connsiteY0" fmla="*/ 1682719 h 1682719"/>
              <a:gd name="connsiteX1" fmla="*/ 200025 w 2719387"/>
              <a:gd name="connsiteY1" fmla="*/ 1577944 h 1682719"/>
              <a:gd name="connsiteX2" fmla="*/ 404812 w 2719387"/>
              <a:gd name="connsiteY2" fmla="*/ 1406494 h 1682719"/>
              <a:gd name="connsiteX3" fmla="*/ 571500 w 2719387"/>
              <a:gd name="connsiteY3" fmla="*/ 1135031 h 1682719"/>
              <a:gd name="connsiteX4" fmla="*/ 714375 w 2719387"/>
              <a:gd name="connsiteY4" fmla="*/ 734981 h 1682719"/>
              <a:gd name="connsiteX5" fmla="*/ 871537 w 2719387"/>
              <a:gd name="connsiteY5" fmla="*/ 325406 h 1682719"/>
              <a:gd name="connsiteX6" fmla="*/ 1028700 w 2719387"/>
              <a:gd name="connsiteY6" fmla="*/ 101569 h 1682719"/>
              <a:gd name="connsiteX7" fmla="*/ 1223962 w 2719387"/>
              <a:gd name="connsiteY7" fmla="*/ 30131 h 1682719"/>
              <a:gd name="connsiteX8" fmla="*/ 1876425 w 2719387"/>
              <a:gd name="connsiteY8" fmla="*/ 1556 h 1682719"/>
              <a:gd name="connsiteX9" fmla="*/ 2719387 w 2719387"/>
              <a:gd name="connsiteY9" fmla="*/ 6319 h 168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19387" h="1682719">
                <a:moveTo>
                  <a:pt x="0" y="1682719"/>
                </a:moveTo>
                <a:cubicBezTo>
                  <a:pt x="66278" y="1653350"/>
                  <a:pt x="132556" y="1623981"/>
                  <a:pt x="200025" y="1577944"/>
                </a:cubicBezTo>
                <a:cubicBezTo>
                  <a:pt x="267494" y="1531907"/>
                  <a:pt x="342900" y="1480313"/>
                  <a:pt x="404812" y="1406494"/>
                </a:cubicBezTo>
                <a:cubicBezTo>
                  <a:pt x="466725" y="1332675"/>
                  <a:pt x="519906" y="1246950"/>
                  <a:pt x="571500" y="1135031"/>
                </a:cubicBezTo>
                <a:cubicBezTo>
                  <a:pt x="623094" y="1023112"/>
                  <a:pt x="664369" y="869918"/>
                  <a:pt x="714375" y="734981"/>
                </a:cubicBezTo>
                <a:cubicBezTo>
                  <a:pt x="764381" y="600044"/>
                  <a:pt x="819150" y="430975"/>
                  <a:pt x="871537" y="325406"/>
                </a:cubicBezTo>
                <a:cubicBezTo>
                  <a:pt x="923925" y="219837"/>
                  <a:pt x="969963" y="150781"/>
                  <a:pt x="1028700" y="101569"/>
                </a:cubicBezTo>
                <a:cubicBezTo>
                  <a:pt x="1087438" y="52356"/>
                  <a:pt x="1082675" y="46800"/>
                  <a:pt x="1223962" y="30131"/>
                </a:cubicBezTo>
                <a:cubicBezTo>
                  <a:pt x="1365250" y="13462"/>
                  <a:pt x="1627188" y="5525"/>
                  <a:pt x="1876425" y="1556"/>
                </a:cubicBezTo>
                <a:cubicBezTo>
                  <a:pt x="2125662" y="-2413"/>
                  <a:pt x="2422524" y="1953"/>
                  <a:pt x="2719387" y="631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8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Effect of normalizations on AEP (8m/s)</a:t>
            </a:r>
            <a:br>
              <a:rPr lang="en-GB" dirty="0" smtClean="0"/>
            </a:br>
            <a:r>
              <a:rPr lang="en-GB" dirty="0" smtClean="0"/>
              <a:t>Uncorrected</a:t>
            </a:r>
            <a:endParaRPr lang="en-GB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" t="9834" r="9252"/>
          <a:stretch/>
        </p:blipFill>
        <p:spPr>
          <a:xfrm>
            <a:off x="1559645" y="2379578"/>
            <a:ext cx="1050833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5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 of normalizations on AEP (8m/s</a:t>
            </a:r>
            <a:r>
              <a:rPr lang="en-GB" dirty="0" smtClean="0"/>
              <a:t>)</a:t>
            </a:r>
            <a:br>
              <a:rPr lang="en-GB" dirty="0" smtClean="0"/>
            </a:br>
            <a:r>
              <a:rPr lang="en-GB" dirty="0" smtClean="0"/>
              <a:t>Normalized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0" t="9834" r="9251"/>
          <a:stretch/>
        </p:blipFill>
        <p:spPr>
          <a:xfrm>
            <a:off x="1623818" y="2363535"/>
            <a:ext cx="10484063" cy="3960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480000" y="1632000"/>
                <a:ext cx="11040000" cy="4464000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1219170" rtl="0" eaLnBrk="1" latinLnBrk="0" hangingPunct="1">
                  <a:spcBef>
                    <a:spcPts val="0"/>
                  </a:spcBef>
                  <a:buFont typeface="Arial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9178" indent="-239178" algn="l" defTabSz="1219170" rtl="0" eaLnBrk="1" latinLnBrk="0" hangingPunct="1">
                  <a:spcBef>
                    <a:spcPts val="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76239" indent="-237061" algn="l" defTabSz="1219170" rtl="0" eaLnBrk="1" latinLnBrk="0" hangingPunct="1">
                  <a:spcBef>
                    <a:spcPts val="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3pPr>
                <a:lvl4pPr marL="715415" indent="-239178" algn="l" defTabSz="1219170" rtl="0" eaLnBrk="1" latinLnBrk="0" hangingPunct="1">
                  <a:spcBef>
                    <a:spcPts val="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4pPr>
                <a:lvl5pPr marL="954593" indent="-239178" algn="l" defTabSz="1219170" rtl="0" eaLnBrk="1" latinLnBrk="0" hangingPunct="1">
                  <a:spcBef>
                    <a:spcPts val="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Arial" panose="020B0604020202020204" pitchFamily="34" charset="0"/>
                  </a:defRPr>
                </a:lvl5pPr>
                <a:lvl6pPr marL="3352716" indent="-304792" algn="l" defTabSz="121917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301" indent="-304792" algn="l" defTabSz="121917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886" indent="-304792" algn="l" defTabSz="121917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470" indent="-304792" algn="l" defTabSz="121917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 smtClean="0"/>
                  <a:t>Effect on AEP is small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𝑢𝑛𝑐𝑜𝑟𝑟𝑒𝑐𝑡𝑒𝑑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=0.143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𝐺𝑊𝐻</m:t>
                    </m:r>
                  </m:oMath>
                </a14:m>
                <a:r>
                  <a:rPr lang="en-GB" dirty="0" smtClean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𝑛𝑜𝑟𝑚𝑎𝑙𝑖𝑧𝑒𝑑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138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𝐺𝑊𝐻</m:t>
                    </m:r>
                  </m:oMath>
                </a14:m>
                <a:r>
                  <a:rPr lang="en-GB" dirty="0" smtClean="0"/>
                  <a:t>) </a:t>
                </a:r>
              </a:p>
              <a:p>
                <a:r>
                  <a:rPr lang="en-GB" dirty="0" smtClean="0"/>
                  <a:t>i.e. a difference of 0.005 GWH (0.06% of </a:t>
                </a:r>
                <a:r>
                  <a:rPr lang="en-GB" dirty="0" err="1" smtClean="0"/>
                  <a:t>avg</a:t>
                </a:r>
                <a:r>
                  <a:rPr lang="en-GB" dirty="0" smtClean="0"/>
                  <a:t>) in standard dev.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GB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00" y="1632000"/>
                <a:ext cx="11040000" cy="4464000"/>
              </a:xfrm>
              <a:prstGeom prst="rect">
                <a:avLst/>
              </a:prstGeom>
              <a:blipFill rotWithShape="0">
                <a:blip r:embed="rId3"/>
                <a:stretch>
                  <a:fillRect l="-1160" t="-1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4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Comparison to SCADA AEP</a:t>
            </a:r>
            <a:br>
              <a:rPr lang="en-GB" dirty="0" smtClean="0"/>
            </a:br>
            <a:r>
              <a:rPr lang="en-GB" dirty="0" smtClean="0"/>
              <a:t>Normalized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But at least iSpin gives much more comparable AEPs than SCADA. </a:t>
                </a:r>
                <a:r>
                  <a:rPr lang="en-GB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𝑖𝑆𝑝𝑖𝑛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38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𝐺𝑊𝐻</m:t>
                    </m:r>
                  </m:oMath>
                </a14:m>
                <a:r>
                  <a:rPr lang="en-GB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𝑆𝐶𝐴𝐷𝐴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𝐺𝑊𝐻</m:t>
                    </m:r>
                  </m:oMath>
                </a14:m>
                <a:r>
                  <a:rPr lang="en-GB" dirty="0" smtClean="0"/>
                  <a:t>)</a:t>
                </a:r>
              </a:p>
              <a:p>
                <a:r>
                  <a:rPr lang="en-GB" dirty="0" smtClean="0"/>
                  <a:t>i.e. a difference of 0.272 MWH (3.2% of </a:t>
                </a:r>
                <a:r>
                  <a:rPr lang="en-GB" dirty="0" err="1" smtClean="0"/>
                  <a:t>avg</a:t>
                </a:r>
                <a:r>
                  <a:rPr lang="en-GB" dirty="0" smtClean="0"/>
                  <a:t>) in standard dev.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0" t="-1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0" t="10992" r="9260"/>
          <a:stretch/>
        </p:blipFill>
        <p:spPr>
          <a:xfrm>
            <a:off x="1572126" y="2434144"/>
            <a:ext cx="10490782" cy="39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1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Correlation between the 40 PC is good in all power curves for the </a:t>
            </a:r>
            <a:r>
              <a:rPr lang="en-US" u="sng" dirty="0" smtClean="0"/>
              <a:t>iSpin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Correlation </a:t>
            </a:r>
            <a:r>
              <a:rPr lang="en-US" dirty="0"/>
              <a:t>between the 40 PC is </a:t>
            </a:r>
            <a:r>
              <a:rPr lang="en-US" dirty="0" smtClean="0"/>
              <a:t>bad compared with all </a:t>
            </a:r>
            <a:r>
              <a:rPr lang="en-US" dirty="0"/>
              <a:t>power curves for the </a:t>
            </a:r>
            <a:r>
              <a:rPr lang="en-US" u="sng" dirty="0" smtClean="0"/>
              <a:t>SCADA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Difficult (impossible in northern Sweden) to measure a power curve in winter due to 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 comparison and analysis it can be seen that a similar AEP is possible for the 29 non-</a:t>
            </a:r>
            <a:r>
              <a:rPr lang="en-US" dirty="0" err="1"/>
              <a:t>derated</a:t>
            </a:r>
            <a:r>
              <a:rPr lang="en-US" dirty="0"/>
              <a:t> turbines, with applied filters and corrections </a:t>
            </a:r>
            <a:r>
              <a:rPr lang="en-US" u="sng" dirty="0"/>
              <a:t>when using iSpin data</a:t>
            </a:r>
          </a:p>
          <a:p>
            <a:pPr marL="524928" lvl="1" indent="-285750"/>
            <a:r>
              <a:rPr lang="en-US" dirty="0" smtClean="0"/>
              <a:t>Allows </a:t>
            </a:r>
            <a:r>
              <a:rPr lang="en-US" dirty="0"/>
              <a:t>to spot under-performing </a:t>
            </a:r>
            <a:r>
              <a:rPr lang="en-US" dirty="0" smtClean="0"/>
              <a:t>turbines </a:t>
            </a:r>
            <a:endParaRPr lang="en-US" dirty="0"/>
          </a:p>
          <a:p>
            <a:pPr marL="524928" lvl="1" indent="-285750"/>
            <a:r>
              <a:rPr lang="en-US" dirty="0" smtClean="0"/>
              <a:t>After all normalizations, AEP from turbine to turbine varies in the order of </a:t>
            </a:r>
            <a:r>
              <a:rPr lang="en-US" b="1" dirty="0" smtClean="0"/>
              <a:t>~2%</a:t>
            </a:r>
            <a:r>
              <a:rPr lang="en-US" dirty="0" smtClean="0"/>
              <a:t> (iSpin) and </a:t>
            </a:r>
            <a:r>
              <a:rPr lang="en-US" b="1" dirty="0" smtClean="0"/>
              <a:t>~ 5%</a:t>
            </a:r>
            <a:r>
              <a:rPr lang="en-US" dirty="0" smtClean="0"/>
              <a:t> (SCADA)</a:t>
            </a:r>
          </a:p>
          <a:p>
            <a:pPr marL="0" indent="0">
              <a:buNone/>
            </a:pPr>
            <a:endParaRPr lang="en-US" u="sng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0" t="9834" r="9251"/>
          <a:stretch/>
        </p:blipFill>
        <p:spPr>
          <a:xfrm>
            <a:off x="2995572" y="4204940"/>
            <a:ext cx="6200857" cy="234216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577840" y="5440299"/>
            <a:ext cx="155448" cy="1463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fontScale="25000" lnSpcReduction="20000"/>
          </a:bodyPr>
          <a:lstStyle/>
          <a:p>
            <a:pPr algn="ctr"/>
            <a:endParaRPr lang="en-GB" sz="1400" dirty="0" smtClean="0"/>
          </a:p>
        </p:txBody>
      </p:sp>
      <p:sp>
        <p:nvSpPr>
          <p:cNvPr id="6" name="Oval 5"/>
          <p:cNvSpPr/>
          <p:nvPr/>
        </p:nvSpPr>
        <p:spPr>
          <a:xfrm>
            <a:off x="6016923" y="4992624"/>
            <a:ext cx="155448" cy="14630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fontScale="25000" lnSpcReduction="20000"/>
          </a:bodyPr>
          <a:lstStyle/>
          <a:p>
            <a:pPr algn="ctr"/>
            <a:endParaRPr lang="en-GB" sz="1400" dirty="0" smtClean="0"/>
          </a:p>
        </p:txBody>
      </p:sp>
      <p:sp>
        <p:nvSpPr>
          <p:cNvPr id="9" name="Oval 8"/>
          <p:cNvSpPr/>
          <p:nvPr/>
        </p:nvSpPr>
        <p:spPr>
          <a:xfrm>
            <a:off x="7181476" y="5002149"/>
            <a:ext cx="155448" cy="14630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 fontScale="25000" lnSpcReduction="20000"/>
          </a:bodyPr>
          <a:lstStyle/>
          <a:p>
            <a:pPr algn="ctr"/>
            <a:endParaRPr lang="en-GB" sz="1400" dirty="0" smtClean="0"/>
          </a:p>
        </p:txBody>
      </p:sp>
    </p:spTree>
    <p:extLst>
      <p:ext uri="{BB962C8B-B14F-4D97-AF65-F5344CB8AC3E}">
        <p14:creationId xmlns:p14="http://schemas.microsoft.com/office/powerpoint/2010/main" val="72514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smtClean="0"/>
              <a:t>ngj@romowind.com </a:t>
            </a:r>
          </a:p>
          <a:p>
            <a:r>
              <a:rPr lang="da-DK" dirty="0" smtClean="0"/>
              <a:t>lms@romowind.com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095702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4752" y="2395728"/>
            <a:ext cx="9692640" cy="3575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endParaRPr lang="en-GB" sz="1400" dirty="0" smtClean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896779" y="2990088"/>
            <a:ext cx="5019389" cy="3387852"/>
          </a:xfrm>
          <a:prstGeom prst="rect">
            <a:avLst/>
          </a:prstGeom>
        </p:spPr>
      </p:pic>
      <p:pic>
        <p:nvPicPr>
          <p:cNvPr id="1026" name="Picture 2" descr="08_Cos2_All_da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803" y="2847604"/>
            <a:ext cx="5390197" cy="3370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93392" y="2679192"/>
            <a:ext cx="2825496" cy="621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endParaRPr lang="en-GB" sz="1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012" y="726948"/>
            <a:ext cx="74199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4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OMO Wind">
  <a:themeElements>
    <a:clrScheme name="REMO Wind">
      <a:dk1>
        <a:sysClr val="windowText" lastClr="000000"/>
      </a:dk1>
      <a:lt1>
        <a:sysClr val="window" lastClr="FFFFFF"/>
      </a:lt1>
      <a:dk2>
        <a:srgbClr val="A0A0A3"/>
      </a:dk2>
      <a:lt2>
        <a:srgbClr val="D5D5D6"/>
      </a:lt2>
      <a:accent1>
        <a:srgbClr val="005A54"/>
      </a:accent1>
      <a:accent2>
        <a:srgbClr val="F49400"/>
      </a:accent2>
      <a:accent3>
        <a:srgbClr val="525257"/>
      </a:accent3>
      <a:accent4>
        <a:srgbClr val="09AFC4"/>
      </a:accent4>
      <a:accent5>
        <a:srgbClr val="0067A5"/>
      </a:accent5>
      <a:accent6>
        <a:srgbClr val="8E0F6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 anchorCtr="0">
        <a:normAutofit/>
      </a:bodyPr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ROMO Wind" id="{BDD1F67E-3777-4B2C-81E5-EE6F4ACF187F}" vid="{0E94798B-D672-4AC9-BEB5-1B05C21D88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ROMO Wind</Template>
  <TotalTime>987</TotalTime>
  <Words>476</Words>
  <Application>Microsoft Office PowerPoint</Application>
  <PresentationFormat>Widescreen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ROMO Wind</vt:lpstr>
      <vt:lpstr>Performance verification</vt:lpstr>
      <vt:lpstr>Site details </vt:lpstr>
      <vt:lpstr>Project and turbines</vt:lpstr>
      <vt:lpstr>Applied filters</vt:lpstr>
      <vt:lpstr>Corrections</vt:lpstr>
      <vt:lpstr>Results - Normalization</vt:lpstr>
      <vt:lpstr>Results – all 40 turbines</vt:lpstr>
      <vt:lpstr>Effect of normalizations on AEP (8m/s) Uncorrected</vt:lpstr>
      <vt:lpstr>Effect of normalizations on AEP (8m/s) Normalized</vt:lpstr>
      <vt:lpstr>Comparison to SCADA AEP Normalized</vt:lpstr>
      <vt:lpstr>Conclusion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 farm – Stor-Rotliden</dc:title>
  <dc:creator>Lasse M. Sørensen</dc:creator>
  <cp:lastModifiedBy>Nick Gerardus Cornelis Janssen</cp:lastModifiedBy>
  <cp:revision>81</cp:revision>
  <dcterms:created xsi:type="dcterms:W3CDTF">2016-08-16T09:11:05Z</dcterms:created>
  <dcterms:modified xsi:type="dcterms:W3CDTF">2016-09-08T09:38:29Z</dcterms:modified>
</cp:coreProperties>
</file>